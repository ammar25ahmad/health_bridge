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6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9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0726057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2381250"/>
            <a:ext cx="533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7F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LOOPLEARN HACKATHON 2026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009650" y="3048000"/>
            <a:ext cx="8656864" cy="112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HealthBridge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1047750" y="4476750"/>
            <a:ext cx="51435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Community Health Information &amp; Support Platform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5905500"/>
            <a:ext cx="762000" cy="57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7750" y="6286500"/>
            <a:ext cx="514350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D1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reliable health information and community health resources easier to access.</a:t>
            </a:r>
            <a:endParaRPr lang="en-US" sz="1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3319" y="2499712"/>
            <a:ext cx="9144000" cy="4987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5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857250"/>
            <a:ext cx="571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04900" y="1333500"/>
            <a:ext cx="10477500" cy="723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Health Information Gap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143000" y="2571750"/>
            <a:ext cx="8572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5260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Citizens struggle to find reliable health information, relevant educational content, and community resources that fit their needs.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095750"/>
            <a:ext cx="3619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750" y="4476750"/>
            <a:ext cx="304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Citizen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428750" y="4905375"/>
            <a:ext cx="3048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5260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a real health question</a:t>
            </a:r>
            <a:endParaRPr lang="en-US" sz="142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3500" y="4095750"/>
            <a:ext cx="3619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29250" y="4476750"/>
            <a:ext cx="3585077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Overload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5429250" y="4905375"/>
            <a:ext cx="3048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5260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many unverified sources</a:t>
            </a:r>
            <a:endParaRPr lang="en-US" sz="142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4095750"/>
            <a:ext cx="3619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29750" y="4476750"/>
            <a:ext cx="304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Uncertainty</a:t>
            </a:r>
            <a:endParaRPr lang="en-US" sz="2250" dirty="0"/>
          </a:p>
        </p:txBody>
      </p:sp>
      <p:sp>
        <p:nvSpPr>
          <p:cNvPr id="14" name="Text 8"/>
          <p:cNvSpPr/>
          <p:nvPr/>
        </p:nvSpPr>
        <p:spPr>
          <a:xfrm>
            <a:off x="9429750" y="4905375"/>
            <a:ext cx="3048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5260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I actually trust?</a:t>
            </a:r>
            <a:endParaRPr lang="en-US" sz="1425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44500" y="4095750"/>
            <a:ext cx="4000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430250" y="4429125"/>
            <a:ext cx="3429000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50" b="1" dirty="0">
                <a:solidFill>
                  <a:srgbClr val="B91C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Can't find the right resource</a:t>
            </a:r>
            <a:endParaRPr lang="en-US" sz="2250" dirty="0"/>
          </a:p>
        </p:txBody>
      </p:sp>
      <p:sp>
        <p:nvSpPr>
          <p:cNvPr id="17" name="Text 10"/>
          <p:cNvSpPr/>
          <p:nvPr/>
        </p:nvSpPr>
        <p:spPr>
          <a:xfrm>
            <a:off x="4810125" y="4619625"/>
            <a:ext cx="381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Text 11"/>
          <p:cNvSpPr/>
          <p:nvPr/>
        </p:nvSpPr>
        <p:spPr>
          <a:xfrm>
            <a:off x="8810625" y="4619625"/>
            <a:ext cx="381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19" name="Text 12"/>
          <p:cNvSpPr/>
          <p:nvPr/>
        </p:nvSpPr>
        <p:spPr>
          <a:xfrm>
            <a:off x="12811125" y="4619625"/>
            <a:ext cx="381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6667500"/>
            <a:ext cx="16002000" cy="21907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24000" y="7000875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A7F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1524000" y="7477125"/>
            <a:ext cx="15240000" cy="809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HealthBridge combines verified resources, educational content, AI assistance, and intelligent search into one trusted platform.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571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900" y="1219200"/>
            <a:ext cx="11430000" cy="12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Platform. Three Connected Experiences.</a:t>
            </a:r>
            <a:endParaRPr lang="en-US" sz="4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571750"/>
            <a:ext cx="51435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15250" y="5334000"/>
            <a:ext cx="285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HealthBridge Hub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33700">
            <a:off x="4144870" y="4256208"/>
            <a:ext cx="4000500" cy="2857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2857500"/>
            <a:ext cx="3619500" cy="1809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28750" y="3143250"/>
            <a:ext cx="3048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Citizens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1428750" y="3667125"/>
            <a:ext cx="304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browse, and ask the AI assistant for trusted answers.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2267" y="8000648"/>
            <a:ext cx="3619500" cy="1809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16183" y="8274634"/>
            <a:ext cx="3048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Organizations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7716183" y="8750808"/>
            <a:ext cx="304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and manage verified health resources and content.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027220">
            <a:off x="10156984" y="4243673"/>
            <a:ext cx="3969039" cy="285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25500" y="2857500"/>
            <a:ext cx="3619500" cy="18097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811250" y="3143250"/>
            <a:ext cx="3048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Admins</a:t>
            </a:r>
            <a:endParaRPr lang="en-US" sz="2400" dirty="0"/>
          </a:p>
        </p:txBody>
      </p:sp>
      <p:sp>
        <p:nvSpPr>
          <p:cNvPr id="16" name="Text 8"/>
          <p:cNvSpPr/>
          <p:nvPr/>
        </p:nvSpPr>
        <p:spPr>
          <a:xfrm>
            <a:off x="13811250" y="3667125"/>
            <a:ext cx="304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the platform, moderate content, and ensure quality.</a:t>
            </a:r>
            <a:endParaRPr lang="en-US" sz="15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8235305" y="7047957"/>
            <a:ext cx="1877482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85725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04900" y="1314450"/>
            <a:ext cx="12382500" cy="619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Makes HealthBridge Intelligent?</a:t>
            </a:r>
            <a:endParaRPr lang="en-US" sz="4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762250"/>
            <a:ext cx="5143500" cy="1619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8750" y="3000375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Health Education Assistant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428750" y="3476625"/>
            <a:ext cx="4572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CFE6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Google Gemini API + RAG for grounded, trustworthy answers.</a:t>
            </a:r>
            <a:endParaRPr lang="en-US" sz="142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667250"/>
            <a:ext cx="5143500" cy="1619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28750" y="4905375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Retrieval-Augmented Generation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1428750" y="5381625"/>
            <a:ext cx="4572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CFE6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retrieval surfaces the most relevant verified content.</a:t>
            </a:r>
            <a:endParaRPr lang="en-US" sz="142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6572250"/>
            <a:ext cx="5143500" cy="16192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28750" y="6810375"/>
            <a:ext cx="4572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 Resource Agent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1428750" y="7286625"/>
            <a:ext cx="4572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CFE6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multiple search tools to find resources and articles.</a:t>
            </a:r>
            <a:endParaRPr lang="en-US" sz="1425" dirty="0"/>
          </a:p>
        </p:txBody>
      </p:sp>
      <p:sp>
        <p:nvSpPr>
          <p:cNvPr id="14" name="Text 8"/>
          <p:cNvSpPr/>
          <p:nvPr/>
        </p:nvSpPr>
        <p:spPr>
          <a:xfrm>
            <a:off x="7239000" y="2857500"/>
            <a:ext cx="5715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FLOW</a:t>
            </a:r>
            <a:endParaRPr lang="en-US" sz="1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9000" y="3429000"/>
            <a:ext cx="9906000" cy="6286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39000" y="3600450"/>
            <a:ext cx="9906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A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Question</a:t>
            </a:r>
            <a:endParaRPr lang="en-US" sz="1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9000" y="4248150"/>
            <a:ext cx="4810125" cy="6286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39000" y="4419600"/>
            <a:ext cx="4810125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Detection</a:t>
            </a:r>
            <a:endParaRPr lang="en-US" sz="1575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34875" y="4248150"/>
            <a:ext cx="4810125" cy="6286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2334875" y="4419600"/>
            <a:ext cx="4810125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Selection</a:t>
            </a:r>
            <a:endParaRPr lang="en-US" sz="1575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9000" y="5067300"/>
            <a:ext cx="9906000" cy="6286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239000" y="5238750"/>
            <a:ext cx="990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Tool Execution</a:t>
            </a:r>
            <a:endParaRPr lang="en-US" sz="1575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5886450"/>
            <a:ext cx="9906000" cy="62865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239000" y="6057900"/>
            <a:ext cx="9906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Resources &amp; Articles</a:t>
            </a:r>
            <a:endParaRPr lang="en-US" sz="1575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9000" y="6705600"/>
            <a:ext cx="9906000" cy="6858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7239000" y="6905625"/>
            <a:ext cx="9906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A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Response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5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76200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USER JOURNEY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04900" y="1219200"/>
            <a:ext cx="12382500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Question to Actionable Information</a:t>
            </a:r>
            <a:endParaRPr lang="en-US" sz="4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762250"/>
            <a:ext cx="7239000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4000" y="3000375"/>
            <a:ext cx="65722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"What community resources help manage diabetes?"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524000" y="3429000"/>
            <a:ext cx="65722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D1F2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citizen asks a real, everyday health question.</a:t>
            </a:r>
            <a:endParaRPr lang="en-US" sz="1425" dirty="0"/>
          </a:p>
        </p:txBody>
      </p:sp>
      <p:sp>
        <p:nvSpPr>
          <p:cNvPr id="8" name="Text 4"/>
          <p:cNvSpPr/>
          <p:nvPr/>
        </p:nvSpPr>
        <p:spPr>
          <a:xfrm>
            <a:off x="1143000" y="4381500"/>
            <a:ext cx="666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PIPELINE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43000" y="4953000"/>
            <a:ext cx="7239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 Intent detection understands the question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43000" y="5572125"/>
            <a:ext cx="7239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 RAG retrieval finds verified knowledge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43000" y="6191250"/>
            <a:ext cx="7239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 Resource Agent searches matching services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43000" y="6810375"/>
            <a:ext cx="7239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D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 Gemini generates a clear, grounded answer</a:t>
            </a:r>
            <a:endParaRPr lang="en-US" sz="1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0" y="4381500"/>
            <a:ext cx="8001000" cy="400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25000" y="4714875"/>
            <a:ext cx="7239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RESPONSE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525000" y="5143500"/>
            <a:ext cx="7239000" cy="1076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 are verified community programs, educational articles, and support services for diabetes care near you — with links to trusted resources on HealthBridge.</a:t>
            </a:r>
            <a:endParaRPr lang="en-US" sz="1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7334250"/>
            <a:ext cx="7239000" cy="762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53600" y="7524750"/>
            <a:ext cx="67818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927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Safety disclaimer: educational information only — not medical advice.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900" y="1123950"/>
            <a:ext cx="12382500" cy="58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Modular, AI-Powered by Design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667000"/>
            <a:ext cx="3048000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" y="2857500"/>
            <a:ext cx="2667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Frontend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33500" y="3171206"/>
            <a:ext cx="2667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https://healthbridge-frontend-dacf.onrender.com/</a:t>
            </a:r>
            <a:endParaRPr lang="en-US" sz="127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3148013"/>
            <a:ext cx="1047750" cy="1143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2667000"/>
            <a:ext cx="3048000" cy="1047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24500" y="2857500"/>
            <a:ext cx="26670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API Gateway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524500" y="3171206"/>
            <a:ext cx="26670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7F5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https://healthbridge-gateway.onrender.com/</a:t>
            </a:r>
            <a:endParaRPr lang="en-US" sz="127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49220">
            <a:off x="8088087" y="4141556"/>
            <a:ext cx="4677280" cy="1143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519502" y="4258351"/>
            <a:ext cx="1199940" cy="11430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806278" y="4248007"/>
            <a:ext cx="1295905" cy="11430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1500" y="4953000"/>
            <a:ext cx="2857500" cy="10477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572000" y="5143500"/>
            <a:ext cx="247650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 Service</a:t>
            </a:r>
            <a:endParaRPr lang="en-US" sz="1725" dirty="0"/>
          </a:p>
        </p:txBody>
      </p:sp>
      <p:sp>
        <p:nvSpPr>
          <p:cNvPr id="16" name="Text 7"/>
          <p:cNvSpPr/>
          <p:nvPr/>
        </p:nvSpPr>
        <p:spPr>
          <a:xfrm>
            <a:off x="4572257" y="5473446"/>
            <a:ext cx="24765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https://healthbridge-auth.onrender.com/</a:t>
            </a:r>
            <a:endParaRPr lang="en-US" sz="1275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15250" y="4953000"/>
            <a:ext cx="2857500" cy="104775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905750" y="5143500"/>
            <a:ext cx="247650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Resource Service</a:t>
            </a:r>
            <a:endParaRPr lang="en-US" sz="1725" dirty="0"/>
          </a:p>
        </p:txBody>
      </p:sp>
      <p:sp>
        <p:nvSpPr>
          <p:cNvPr id="19" name="Text 9"/>
          <p:cNvSpPr/>
          <p:nvPr/>
        </p:nvSpPr>
        <p:spPr>
          <a:xfrm>
            <a:off x="7905750" y="5476818"/>
            <a:ext cx="24765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https://healthbridge-resource.onrender.com</a:t>
            </a:r>
            <a:endParaRPr lang="en-US" sz="1275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49000" y="4953000"/>
            <a:ext cx="2857500" cy="10477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1239500" y="5143500"/>
            <a:ext cx="247650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62A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Service</a:t>
            </a:r>
            <a:endParaRPr lang="en-US" sz="1725" dirty="0"/>
          </a:p>
        </p:txBody>
      </p:sp>
      <p:sp>
        <p:nvSpPr>
          <p:cNvPr id="22" name="Text 11"/>
          <p:cNvSpPr/>
          <p:nvPr/>
        </p:nvSpPr>
        <p:spPr>
          <a:xfrm>
            <a:off x="11239500" y="5410143"/>
            <a:ext cx="24765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53B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https://healthbridge-ai-zei1.onrender.com</a:t>
            </a:r>
            <a:endParaRPr lang="en-US" sz="1275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2469177" y="6530978"/>
            <a:ext cx="1177547" cy="11430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49000" y="7239000"/>
            <a:ext cx="2857500" cy="9525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11239500" y="74104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FastAPI</a:t>
            </a:r>
            <a:endParaRPr lang="en-US" sz="1650" dirty="0"/>
          </a:p>
        </p:txBody>
      </p:sp>
      <p:sp>
        <p:nvSpPr>
          <p:cNvPr id="26" name="Text 13"/>
          <p:cNvSpPr/>
          <p:nvPr/>
        </p:nvSpPr>
        <p:spPr>
          <a:xfrm>
            <a:off x="11239500" y="7639631"/>
            <a:ext cx="247650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https://healthbridge-python.onrender.com</a:t>
            </a:r>
            <a:endParaRPr lang="en-US" sz="1275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4200000">
            <a:off x="6046318" y="6595643"/>
            <a:ext cx="1238250" cy="114300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6600000">
            <a:off x="7416032" y="6533559"/>
            <a:ext cx="1238250" cy="114300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10250" y="7334250"/>
            <a:ext cx="2857500" cy="85725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6000750" y="7620000"/>
            <a:ext cx="2476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</a:t>
            </a:r>
            <a:endParaRPr lang="en-US" sz="1800" dirty="0"/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478000" y="4762500"/>
            <a:ext cx="2857500" cy="85725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14668500" y="5048250"/>
            <a:ext cx="2476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Knowledge Base</a:t>
            </a:r>
            <a:endParaRPr lang="en-US" sz="150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478000" y="5905500"/>
            <a:ext cx="2857500" cy="85725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4668500" y="6191250"/>
            <a:ext cx="2476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Gemini API</a:t>
            </a:r>
            <a:endParaRPr lang="en-US" sz="1650" dirty="0"/>
          </a:p>
        </p:txBody>
      </p:sp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06500" y="5338763"/>
            <a:ext cx="571500" cy="114300"/>
          </a:xfrm>
          <a:prstGeom prst="rect">
            <a:avLst/>
          </a:prstGeom>
        </p:spPr>
      </p:pic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1800000">
            <a:off x="13906500" y="5767388"/>
            <a:ext cx="66675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5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66675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04900" y="1123950"/>
            <a:ext cx="12382500" cy="58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on a Modern, Scalable Stack</a:t>
            </a:r>
            <a:endParaRPr lang="en-US" sz="4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381250"/>
            <a:ext cx="5143500" cy="2190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8750" y="2647950"/>
            <a:ext cx="457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428750" y="3143250"/>
            <a:ext cx="45720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· Vite 8 · Tailwind CSS 4 · JSX · Bun</a:t>
            </a:r>
            <a:endParaRPr lang="en-US" sz="1725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2250" y="2381250"/>
            <a:ext cx="5143500" cy="2190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0" y="2647950"/>
            <a:ext cx="457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6858000" y="3143250"/>
            <a:ext cx="45720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· Express.js · Microservices architecture</a:t>
            </a:r>
            <a:endParaRPr lang="en-US" sz="1725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01500" y="2381250"/>
            <a:ext cx="5143500" cy="2190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287250" y="2647950"/>
            <a:ext cx="457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12287250" y="3143250"/>
            <a:ext cx="457200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· Mongoose ODM</a:t>
            </a:r>
            <a:endParaRPr lang="en-US" sz="1725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4857750"/>
            <a:ext cx="5143500" cy="2190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28750" y="5124450"/>
            <a:ext cx="457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5EEA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</a:t>
            </a:r>
            <a:endParaRPr lang="en-US" sz="2100" dirty="0"/>
          </a:p>
        </p:txBody>
      </p:sp>
      <p:sp>
        <p:nvSpPr>
          <p:cNvPr id="16" name="Text 9"/>
          <p:cNvSpPr/>
          <p:nvPr/>
        </p:nvSpPr>
        <p:spPr>
          <a:xfrm>
            <a:off x="1428750" y="5619750"/>
            <a:ext cx="45720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API · RAG · TF-IDF retrieval · Health Resource Agent</a:t>
            </a:r>
            <a:endParaRPr lang="en-US" sz="1725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2250" y="4857750"/>
            <a:ext cx="5143500" cy="2190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58000" y="5124450"/>
            <a:ext cx="457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6858000" y="5619750"/>
            <a:ext cx="4572000" cy="333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3.11+ · FastAPI · Pydantic</a:t>
            </a:r>
            <a:endParaRPr lang="en-US" sz="1725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01500" y="4857750"/>
            <a:ext cx="5143500" cy="21907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287250" y="5124450"/>
            <a:ext cx="4572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Infrastructure</a:t>
            </a:r>
            <a:endParaRPr lang="en-US" sz="2100" dirty="0"/>
          </a:p>
        </p:txBody>
      </p:sp>
      <p:sp>
        <p:nvSpPr>
          <p:cNvPr id="22" name="Text 13"/>
          <p:cNvSpPr/>
          <p:nvPr/>
        </p:nvSpPr>
        <p:spPr>
          <a:xfrm>
            <a:off x="12287250" y="5619750"/>
            <a:ext cx="45720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· Docker Compose · Kubernetes · Terraform · Git/GitHub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TRUST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900" y="1314450"/>
            <a:ext cx="12382500" cy="58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Responsible Engineering for Health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666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FLOW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048000"/>
            <a:ext cx="2857500" cy="857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333750"/>
            <a:ext cx="285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500" y="3048000"/>
            <a:ext cx="3143250" cy="857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1500" y="3333750"/>
            <a:ext cx="314325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Authentication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5750" y="3048000"/>
            <a:ext cx="2857500" cy="857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05750" y="3333750"/>
            <a:ext cx="28575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Gateway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4250" y="3048000"/>
            <a:ext cx="2857500" cy="8572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44250" y="3333750"/>
            <a:ext cx="28575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Authorized Services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382750" y="3048000"/>
            <a:ext cx="2762250" cy="857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382750" y="3333750"/>
            <a:ext cx="276225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2A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Protected Data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4038600" y="3352800"/>
            <a:ext cx="3238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Text 9"/>
          <p:cNvSpPr/>
          <p:nvPr/>
        </p:nvSpPr>
        <p:spPr>
          <a:xfrm>
            <a:off x="7562850" y="3352800"/>
            <a:ext cx="3238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10801350" y="3352800"/>
            <a:ext cx="3238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14039850" y="3352800"/>
            <a:ext cx="3238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1143000" y="4667250"/>
            <a:ext cx="6667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SECURITY LAYERS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143000" y="5238750"/>
            <a:ext cx="5238750" cy="1685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password hashing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Web Tokens (JWT)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HTTP-only cookies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authorization</a:t>
            </a:r>
            <a:endParaRPr lang="en-US" sz="1950" dirty="0"/>
          </a:p>
        </p:txBody>
      </p:sp>
      <p:sp>
        <p:nvSpPr>
          <p:cNvPr id="21" name="Text 14"/>
          <p:cNvSpPr/>
          <p:nvPr/>
        </p:nvSpPr>
        <p:spPr>
          <a:xfrm>
            <a:off x="6667500" y="5238750"/>
            <a:ext cx="5238750" cy="1266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 &amp; Helmet headers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rate limiting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validation</a:t>
            </a:r>
            <a:endParaRPr lang="en-US" sz="1950" dirty="0"/>
          </a:p>
        </p:txBody>
      </p:sp>
      <p:sp>
        <p:nvSpPr>
          <p:cNvPr id="22" name="Text 15"/>
          <p:cNvSpPr/>
          <p:nvPr/>
        </p:nvSpPr>
        <p:spPr>
          <a:xfrm>
            <a:off x="12192000" y="5238750"/>
            <a:ext cx="523875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management</a:t>
            </a:r>
            <a:endParaRPr lang="en-US" sz="195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1950" dirty="0">
                <a:solidFill>
                  <a:srgbClr val="E6F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health disclaimers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5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76200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SDG IMPACT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04900" y="1219200"/>
            <a:ext cx="12382500" cy="58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Aligned with Global Goals</a:t>
            </a:r>
            <a:endParaRPr lang="en-US" sz="4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857500"/>
            <a:ext cx="5048250" cy="5715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4000" y="3333750"/>
            <a:ext cx="4286250" cy="171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0" dirty="0"/>
          </a:p>
        </p:txBody>
      </p:sp>
      <p:sp>
        <p:nvSpPr>
          <p:cNvPr id="7" name="Text 3"/>
          <p:cNvSpPr/>
          <p:nvPr/>
        </p:nvSpPr>
        <p:spPr>
          <a:xfrm>
            <a:off x="1524000" y="4857750"/>
            <a:ext cx="428625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 Health &amp; Well-Being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1524000" y="6191250"/>
            <a:ext cx="428625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EAFF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Reliable, verified health information and education for everyday decisions and healthier lives.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875" y="2857500"/>
            <a:ext cx="5048250" cy="5715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0875" y="3333750"/>
            <a:ext cx="4286250" cy="171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0" dirty="0"/>
          </a:p>
        </p:txBody>
      </p:sp>
      <p:sp>
        <p:nvSpPr>
          <p:cNvPr id="11" name="Text 6"/>
          <p:cNvSpPr/>
          <p:nvPr/>
        </p:nvSpPr>
        <p:spPr>
          <a:xfrm>
            <a:off x="7000875" y="4857750"/>
            <a:ext cx="42862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Reduced Inequalities</a:t>
            </a:r>
            <a:endParaRPr lang="en-US" sz="2700" dirty="0"/>
          </a:p>
        </p:txBody>
      </p:sp>
      <p:sp>
        <p:nvSpPr>
          <p:cNvPr id="12" name="Text 7"/>
          <p:cNvSpPr/>
          <p:nvPr/>
        </p:nvSpPr>
        <p:spPr>
          <a:xfrm>
            <a:off x="7000875" y="6191250"/>
            <a:ext cx="428625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EA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Free, AI-assisted access to trusted health resources for underserved communities.</a:t>
            </a:r>
            <a:endParaRPr lang="en-US" sz="1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96750" y="2857500"/>
            <a:ext cx="5048250" cy="5715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77750" y="3333750"/>
            <a:ext cx="4286250" cy="171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9000" dirty="0"/>
          </a:p>
        </p:txBody>
      </p:sp>
      <p:sp>
        <p:nvSpPr>
          <p:cNvPr id="15" name="Text 9"/>
          <p:cNvSpPr/>
          <p:nvPr/>
        </p:nvSpPr>
        <p:spPr>
          <a:xfrm>
            <a:off x="12477750" y="4857750"/>
            <a:ext cx="428625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Sustainable Communities</a:t>
            </a:r>
            <a:endParaRPr lang="en-US" sz="2700" dirty="0"/>
          </a:p>
        </p:txBody>
      </p:sp>
      <p:sp>
        <p:nvSpPr>
          <p:cNvPr id="16" name="Text 10"/>
          <p:cNvSpPr/>
          <p:nvPr/>
        </p:nvSpPr>
        <p:spPr>
          <a:xfrm>
            <a:off x="12477750" y="6191250"/>
            <a:ext cx="4286250" cy="99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FF4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citizens with local organizations and community health services.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WE'RE DIFFERENT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4900" y="1219200"/>
            <a:ext cx="13335000" cy="58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dirty="0">
                <a:solidFill>
                  <a:srgbClr val="0A3D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Search — Intelligent Support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667000"/>
            <a:ext cx="7620000" cy="5905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000" y="3048000"/>
            <a:ext cx="6858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Traditional Health Search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524000" y="3810000"/>
            <a:ext cx="6858000" cy="2752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85000"/>
              </a:lnSpc>
              <a:buSzPct val="100000"/>
              <a:buChar char="•"/>
            </a:pPr>
            <a:r>
              <a:rPr lang="en-US" sz="1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Scattered, unverified results</a:t>
            </a:r>
            <a:endParaRPr lang="en-US" sz="1950" dirty="0"/>
          </a:p>
          <a:p>
            <a:pPr marL="342900" indent="-342900" algn="l">
              <a:lnSpc>
                <a:spcPct val="185000"/>
              </a:lnSpc>
              <a:buSzPct val="100000"/>
              <a:buChar char="•"/>
            </a:pPr>
            <a:r>
              <a:rPr lang="en-US" sz="1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keyword matching</a:t>
            </a:r>
            <a:endParaRPr lang="en-US" sz="1950" dirty="0"/>
          </a:p>
          <a:p>
            <a:pPr marL="342900" indent="-342900" algn="l">
              <a:lnSpc>
                <a:spcPct val="185000"/>
              </a:lnSpc>
              <a:buSzPct val="100000"/>
              <a:buChar char="•"/>
            </a:pPr>
            <a:r>
              <a:rPr lang="en-US" sz="1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personalized guidance</a:t>
            </a:r>
            <a:endParaRPr lang="en-US" sz="1950" dirty="0"/>
          </a:p>
          <a:p>
            <a:pPr marL="342900" indent="-342900" algn="l">
              <a:lnSpc>
                <a:spcPct val="185000"/>
              </a:lnSpc>
              <a:buSzPct val="100000"/>
              <a:buChar char="•"/>
            </a:pPr>
            <a:r>
              <a:rPr lang="en-US" sz="1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overload</a:t>
            </a:r>
            <a:endParaRPr lang="en-US" sz="1950" dirty="0"/>
          </a:p>
          <a:p>
            <a:pPr marL="342900" indent="-342900" algn="l">
              <a:lnSpc>
                <a:spcPct val="185000"/>
              </a:lnSpc>
              <a:buSzPct val="100000"/>
              <a:buChar char="•"/>
            </a:pPr>
            <a:r>
              <a:rPr lang="en-US" sz="1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connection to real services</a:t>
            </a:r>
            <a:endParaRPr lang="en-US" sz="1950" dirty="0"/>
          </a:p>
          <a:p>
            <a:pPr marL="342900" indent="-342900" algn="l">
              <a:lnSpc>
                <a:spcPct val="185000"/>
              </a:lnSpc>
              <a:buSzPct val="100000"/>
              <a:buChar char="•"/>
            </a:pPr>
            <a:r>
              <a:rPr lang="en-US" sz="1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Uncertain reliability</a:t>
            </a:r>
            <a:endParaRPr lang="en-US" sz="1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0" y="2667000"/>
            <a:ext cx="8001000" cy="5905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25000" y="3048000"/>
            <a:ext cx="7239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HealthBridge Intelligent Support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525000" y="3810000"/>
            <a:ext cx="7239000" cy="2809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950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Health Education Assistant</a:t>
            </a:r>
            <a:endParaRPr lang="en-US" sz="19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950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knowledge retrieval</a:t>
            </a:r>
            <a:endParaRPr lang="en-US" sz="19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950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Resource Agent</a:t>
            </a:r>
            <a:endParaRPr lang="en-US" sz="19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950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Multi-user ecosystem</a:t>
            </a:r>
            <a:endParaRPr lang="en-US" sz="19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950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microservices</a:t>
            </a:r>
            <a:endParaRPr lang="en-US" sz="19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950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AI backend</a:t>
            </a:r>
            <a:endParaRPr lang="en-US" sz="1950" dirty="0"/>
          </a:p>
          <a:p>
            <a:pPr marL="342900" indent="-342900" algn="l">
              <a:lnSpc>
                <a:spcPct val="162000"/>
              </a:lnSpc>
              <a:buSzPct val="100000"/>
              <a:buChar char="•"/>
            </a:pPr>
            <a:r>
              <a:rPr lang="en-US" sz="1950" dirty="0">
                <a:solidFill>
                  <a:srgbClr val="EAF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Security-focused by design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616</Words>
  <Application>Microsoft Office PowerPoint</Application>
  <PresentationFormat>Custom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4de08867-334e-440b-b1dc-aa396d2767dc</dc:title>
  <dc:subject>Presentation Export</dc:subject>
  <dc:creator>Design Export</dc:creator>
  <cp:lastModifiedBy>Ammar Ahmad</cp:lastModifiedBy>
  <cp:revision>2</cp:revision>
  <dcterms:created xsi:type="dcterms:W3CDTF">2026-08-21T04:53:08Z</dcterms:created>
  <dcterms:modified xsi:type="dcterms:W3CDTF">2026-08-21T04:56:21Z</dcterms:modified>
</cp:coreProperties>
</file>